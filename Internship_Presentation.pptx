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707951"/>
            <a:ext cx="2286000" cy="3619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4189958"/>
            <a:ext cx="3619500" cy="960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3189" y="2355651"/>
            <a:ext cx="7525471" cy="754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940"/>
              </a:lnSpc>
            </a:pPr>
            <a:r>
              <a:rPr b="1" sz="5400" i="0" u="none">
                <a:solidFill>
                  <a:srgbClr val="F8FAFC"/>
                </a:solidFill>
                <a:latin typeface="Urbanist"/>
              </a:rPr>
              <a:t>Generative AI </a:t>
            </a:r>
            <a:r>
              <a:rPr b="1" sz="5400" i="0" u="none">
                <a:solidFill>
                  <a:srgbClr val="38BDF8"/>
                </a:solidFill>
                <a:latin typeface="Urbanist"/>
              </a:rPr>
              <a:t>Internship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05275" y="3300412"/>
            <a:ext cx="3981450" cy="365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CBD5E1"/>
                </a:solidFill>
                <a:latin typeface="Inter"/>
              </a:rPr>
              <a:t>Coding Blocks School of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0" y="4580483"/>
            <a:ext cx="1476375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50" i="0" u="none">
                <a:solidFill>
                  <a:srgbClr val="F8FAFC"/>
                </a:solidFill>
                <a:latin typeface="Inter SemiBold"/>
              </a:rPr>
              <a:t>Alok Kumar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86250" y="4875758"/>
            <a:ext cx="1476375" cy="274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94A3B8"/>
                </a:solidFill>
                <a:latin typeface="Inter"/>
              </a:rPr>
              <a:t>AI Engineer Intern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3625" y="4580483"/>
            <a:ext cx="1762125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50" i="0" u="none">
                <a:solidFill>
                  <a:srgbClr val="F8FAFC"/>
                </a:solidFill>
                <a:latin typeface="Inter SemiBold"/>
              </a:rPr>
              <a:t>Duration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3625" y="4875758"/>
            <a:ext cx="1762125" cy="274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94A3B8"/>
                </a:solidFill>
                <a:latin typeface="Inter"/>
              </a:rPr>
              <a:t>June 1 - July 14,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560165"/>
            <a:ext cx="5238750" cy="42862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75" y="1569690"/>
            <a:ext cx="521970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04875" y="1550640"/>
            <a:ext cx="4905375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Inter"/>
              </a:rPr>
              <a:t>Premier institute renowned for software development and cutting-edge technology education.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2398365"/>
            <a:ext cx="4905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Inter"/>
              </a:rPr>
              <a:t>Specializes in advanced fields including Artificial Intelligence, Machine Learning, and Web Development.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3550890"/>
            <a:ext cx="4905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Inter"/>
              </a:rPr>
              <a:t>Provides an immersive, hands-on environment geared towards building scalable projects and solving real-world problems.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4703415"/>
            <a:ext cx="4905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1" sz="1500" i="0" u="none">
                <a:solidFill>
                  <a:srgbClr val="94A3B8"/>
                </a:solidFill>
                <a:latin typeface="Inter"/>
              </a:rPr>
              <a:t>My Role:</a:t>
            </a:r>
            <a:r>
              <a:rPr b="0" sz="1500" i="0" u="none">
                <a:solidFill>
                  <a:srgbClr val="94A3B8"/>
                </a:solidFill>
                <a:latin typeface="Inter"/>
              </a:rPr>
              <a:t> Served as an AI Engineer focusing on developing Generative AI workflows, intelligent agents, and Machine Learning systems.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571500"/>
            <a:ext cx="11601450" cy="54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b="1" sz="3600" i="0" u="none">
                <a:solidFill>
                  <a:srgbClr val="F8FAFC"/>
                </a:solidFill>
                <a:latin typeface="Urbanist"/>
              </a:rPr>
              <a:t>About </a:t>
            </a:r>
            <a:r>
              <a:rPr b="1" sz="3600" i="0" u="none">
                <a:solidFill>
                  <a:srgbClr val="38BDF8"/>
                </a:solidFill>
                <a:latin typeface="Urbanist"/>
              </a:rPr>
              <a:t>Coding Blocks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569690"/>
            <a:ext cx="114300" cy="2000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417415"/>
            <a:ext cx="114300" cy="2000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569940"/>
            <a:ext cx="114300" cy="2000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722465"/>
            <a:ext cx="11430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27894"/>
            <a:ext cx="5334000" cy="178489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727894"/>
            <a:ext cx="5334000" cy="178489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893790"/>
            <a:ext cx="5334000" cy="178489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3893790"/>
            <a:ext cx="5334000" cy="178489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2023169"/>
            <a:ext cx="533400" cy="5334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775" y="2023169"/>
            <a:ext cx="533400" cy="5334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" y="4189065"/>
            <a:ext cx="533400" cy="5334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1775" y="4189065"/>
            <a:ext cx="533400" cy="5334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175" y="2175569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90675" y="2023169"/>
            <a:ext cx="4220527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Urbanist"/>
              </a:rPr>
              <a:t>Hands-on AI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90675" y="2394644"/>
            <a:ext cx="4019550" cy="82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94A3B8"/>
                </a:solidFill>
                <a:latin typeface="Inter"/>
              </a:rPr>
              <a:t>Gain practical experience in building, fine-tuning, and deploying modern Artificial Intelligence models.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34175" y="2175569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5675" y="2023169"/>
            <a:ext cx="4220527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Urbanist"/>
              </a:rPr>
              <a:t>Generative AI Mastery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5675" y="2394644"/>
            <a:ext cx="4019550" cy="82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94A3B8"/>
                </a:solidFill>
                <a:latin typeface="Inter"/>
              </a:rPr>
              <a:t>Understand and implement advanced GenAI concepts including LLMs, Prompt Engineering, and Agents.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9175" y="4341465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90675" y="4189065"/>
            <a:ext cx="4220527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Urbanist"/>
              </a:rPr>
              <a:t>Machine Learning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0675" y="4560540"/>
            <a:ext cx="4019550" cy="82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94A3B8"/>
                </a:solidFill>
                <a:latin typeface="Inter"/>
              </a:rPr>
              <a:t>Apply foundational Machine Learning techniques to real-world datasets for robust predictive analysis.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05600" y="4341465"/>
            <a:ext cx="28575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05675" y="4189065"/>
            <a:ext cx="4220527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Urbanist"/>
              </a:rPr>
              <a:t>End-to-End Development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5675" y="4560540"/>
            <a:ext cx="4019550" cy="82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94A3B8"/>
                </a:solidFill>
                <a:latin typeface="Inter"/>
              </a:rPr>
              <a:t>Develop complete AI applications covering the entire lifecycle from ideation and architecture to execution.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571500"/>
            <a:ext cx="11601450" cy="54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b="1" sz="3600" i="0" u="none">
                <a:solidFill>
                  <a:srgbClr val="F8FAFC"/>
                </a:solidFill>
                <a:latin typeface="Urbanist"/>
              </a:rPr>
              <a:t>Objectives &amp; </a:t>
            </a:r>
            <a:r>
              <a:rPr b="1" sz="3600" i="0" u="none">
                <a:solidFill>
                  <a:srgbClr val="38BDF8"/>
                </a:solidFill>
                <a:latin typeface="Urbanist"/>
              </a:rPr>
              <a:t>Scope of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762000"/>
            <a:ext cx="4953000" cy="2762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228725"/>
            <a:ext cx="5200650" cy="54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b="1" sz="3600" i="0" u="none">
                <a:solidFill>
                  <a:srgbClr val="38BDF8"/>
                </a:solidFill>
                <a:latin typeface="Urbanist"/>
              </a:rPr>
              <a:t>QI</a:t>
            </a:r>
            <a:r>
              <a:rPr b="1" sz="3600" i="0" u="none">
                <a:solidFill>
                  <a:srgbClr val="F8FAFC"/>
                </a:solidFill>
                <a:latin typeface="Urbanist"/>
              </a:rPr>
              <a:t>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967805"/>
            <a:ext cx="495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CBD5E1"/>
                </a:solidFill>
                <a:latin typeface="Inter"/>
              </a:rPr>
              <a:t>Developed an intelligent AI agent system capable of handling complex automated tasks and smart query resolution.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425255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F8FAFC"/>
                </a:solidFill>
                <a:latin typeface="Urbanist SemiBold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4796730"/>
            <a:ext cx="495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Inter"/>
              </a:rPr>
              <a:t>Streamlined query handling by creating a dynamic AI assistant that adapts accurately to user inputs and executes multi-step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" y="6044505"/>
            <a:ext cx="469582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350" i="0" u="none">
                <a:solidFill>
                  <a:srgbClr val="38BDF8"/>
                </a:solidFill>
                <a:latin typeface="Inter Medium"/>
              </a:rPr>
              <a:t> github.com/Requireding/QI_AGENT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6244530"/>
            <a:ext cx="4953000" cy="9525"/>
          </a:xfrm>
          <a:prstGeom prst="rect">
            <a:avLst/>
          </a:prstGeom>
          <a:solid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310830"/>
            <a:ext cx="1171575" cy="2952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8325" y="3310830"/>
            <a:ext cx="1552575" cy="2952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6150" y="3310830"/>
            <a:ext cx="1495425" cy="2952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701355"/>
            <a:ext cx="762000" cy="2952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6058792"/>
            <a:ext cx="161925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222152"/>
            <a:ext cx="5238750" cy="3810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71500"/>
            <a:ext cx="1219200" cy="276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2245965"/>
            <a:ext cx="52387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CBD5E1"/>
                </a:solidFill>
                <a:latin typeface="Inter"/>
              </a:rPr>
              <a:t>Built a Generative AI application designed to analyze, summarize, and extract key insights from complex academic research papers automatically.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3979515"/>
            <a:ext cx="550068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F8FAFC"/>
                </a:solidFill>
                <a:latin typeface="Urbanist SemiBold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4350990"/>
            <a:ext cx="52387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Inter"/>
              </a:rPr>
              <a:t>Significantly reduced the time required for literature review by automating the extraction of core methodologies, data points, and conclusions.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" y="5598765"/>
            <a:ext cx="4981575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350" i="0" u="none">
                <a:solidFill>
                  <a:srgbClr val="38BDF8"/>
                </a:solidFill>
                <a:latin typeface="Inter Medium"/>
              </a:rPr>
              <a:t> github.com/Requireding/AI-Research-Paper-Intelligence-System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5998815"/>
            <a:ext cx="5238750" cy="9525"/>
          </a:xfrm>
          <a:prstGeom prst="rect">
            <a:avLst/>
          </a:prstGeom>
          <a:solid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275" y="2231677"/>
            <a:ext cx="5219700" cy="37909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98490"/>
            <a:ext cx="2324100" cy="2952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850" y="3398490"/>
            <a:ext cx="590550" cy="2952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6650" y="3398490"/>
            <a:ext cx="1466850" cy="2952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713065"/>
            <a:ext cx="161925" cy="171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1038225"/>
            <a:ext cx="11601450" cy="54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b="1" sz="3600" i="0" u="none">
                <a:solidFill>
                  <a:srgbClr val="F8FAFC"/>
                </a:solidFill>
                <a:latin typeface="Urbanist"/>
              </a:rPr>
              <a:t>AI </a:t>
            </a:r>
            <a:r>
              <a:rPr b="1" sz="3600" i="0" u="none">
                <a:solidFill>
                  <a:srgbClr val="38BDF8"/>
                </a:solidFill>
                <a:latin typeface="Urbanist"/>
              </a:rPr>
              <a:t>Research Paper</a:t>
            </a:r>
            <a:r>
              <a:rPr b="1" sz="3600" i="0" u="none">
                <a:solidFill>
                  <a:srgbClr val="F8FAFC"/>
                </a:solidFill>
                <a:latin typeface="Urbanist"/>
              </a:rPr>
              <a:t> Intelligence System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762000"/>
            <a:ext cx="4953000" cy="2762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228725"/>
            <a:ext cx="5200650" cy="109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b="1" sz="3600" i="0" u="none">
                <a:solidFill>
                  <a:srgbClr val="F8FAFC"/>
                </a:solidFill>
                <a:latin typeface="Urbanist"/>
              </a:rPr>
              <a:t>Telco </a:t>
            </a:r>
            <a:r>
              <a:rPr b="1" sz="3600" i="0" u="none">
                <a:solidFill>
                  <a:srgbClr val="38BDF8"/>
                </a:solidFill>
                <a:latin typeface="Urbanist"/>
              </a:rPr>
              <a:t>Customer Churn</a:t>
            </a:r>
            <a:r>
              <a:rPr b="1" sz="3600" i="0" u="none">
                <a:solidFill>
                  <a:srgbClr val="F8FAFC"/>
                </a:solidFill>
                <a:latin typeface="Urbanist"/>
              </a:rPr>
              <a:t>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516385"/>
            <a:ext cx="495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CBD5E1"/>
                </a:solidFill>
                <a:latin typeface="Inter"/>
              </a:rPr>
              <a:t>Conducted comprehensive data analysis and modeling to predict which customers are highly likely to leave a telecommunications service.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4973835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F8FAFC"/>
                </a:solidFill>
                <a:latin typeface="Urbanist SemiBold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345310"/>
            <a:ext cx="4953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Inter"/>
              </a:rPr>
              <a:t>Identified key statistical metrics that lead to customer churn, enabling business stakeholders to implement targeted, data-driven retention strategies.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75" y="6593085"/>
            <a:ext cx="4695825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350" i="0" u="none">
                <a:solidFill>
                  <a:srgbClr val="38BDF8"/>
                </a:solidFill>
                <a:latin typeface="Inter Medium"/>
              </a:rPr>
              <a:t> github.com/Requireding/telco-customer-churn-analysis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6793110"/>
            <a:ext cx="4953000" cy="9525"/>
          </a:xfrm>
          <a:prstGeom prst="rect">
            <a:avLst/>
          </a:prstGeom>
          <a:solid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859410"/>
            <a:ext cx="1438275" cy="2952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5025" y="3859410"/>
            <a:ext cx="590550" cy="2952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3859410"/>
            <a:ext cx="1571625" cy="2952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49935"/>
            <a:ext cx="1438275" cy="2952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6607373"/>
            <a:ext cx="161925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46101"/>
            <a:ext cx="2583656" cy="311437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3281" y="2146101"/>
            <a:ext cx="2583656" cy="311437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146101"/>
            <a:ext cx="2583656" cy="311437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6843" y="2146101"/>
            <a:ext cx="2583656" cy="3114377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2489001"/>
            <a:ext cx="571500" cy="571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3298626"/>
            <a:ext cx="2192774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50" i="0" u="none">
                <a:solidFill>
                  <a:srgbClr val="F8FAFC"/>
                </a:solidFill>
                <a:latin typeface="Urbanist SemiBold"/>
              </a:rPr>
              <a:t>Gen AI Mastery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3698676"/>
            <a:ext cx="2088356" cy="121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4A3B8"/>
                </a:solidFill>
                <a:latin typeface="Inter"/>
              </a:rPr>
              <a:t>Deepened understanding of LLM integration, advanced prompt engineering techniques, and constructing agentic workflows.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0931" y="2489001"/>
            <a:ext cx="571500" cy="571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40931" y="3298626"/>
            <a:ext cx="2192774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50" i="0" u="none">
                <a:solidFill>
                  <a:srgbClr val="F8FAFC"/>
                </a:solidFill>
                <a:latin typeface="Urbanist SemiBold"/>
              </a:rPr>
              <a:t>Data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0931" y="3698676"/>
            <a:ext cx="2088356" cy="121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4A3B8"/>
                </a:solidFill>
                <a:latin typeface="Inter"/>
              </a:rPr>
              <a:t>Learned end-to-end data processing: how to clean, structure, analyze, and extract actionable insights from raw datasets.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2712" y="2489001"/>
            <a:ext cx="571500" cy="571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62712" y="3298626"/>
            <a:ext cx="2192774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50" i="0" u="none">
                <a:solidFill>
                  <a:srgbClr val="F8FAFC"/>
                </a:solidFill>
                <a:latin typeface="Urbanist SemiBold"/>
              </a:rPr>
              <a:t>Problem-Solving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2712" y="3698676"/>
            <a:ext cx="2088356" cy="121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4A3B8"/>
                </a:solidFill>
                <a:latin typeface="Inter"/>
              </a:rPr>
              <a:t>Improved critical debugging skills and system architecture planning when building scalable software applications.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4493" y="2489001"/>
            <a:ext cx="571500" cy="5715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4493" y="3298626"/>
            <a:ext cx="2192774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650" i="0" u="none">
                <a:solidFill>
                  <a:srgbClr val="F8FAFC"/>
                </a:solidFill>
                <a:latin typeface="Urbanist SemiBold"/>
              </a:rPr>
              <a:t>Version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4493" y="3698676"/>
            <a:ext cx="2088356" cy="121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4A3B8"/>
                </a:solidFill>
                <a:latin typeface="Inter"/>
              </a:rPr>
              <a:t>Enhanced professional proficiency in managing Git repositories, version control, and properly documenting code.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212" y="2641401"/>
            <a:ext cx="333375" cy="2667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74281" y="2641401"/>
            <a:ext cx="304800" cy="2667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15112" y="2641401"/>
            <a:ext cx="266700" cy="2667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51181" y="2641401"/>
            <a:ext cx="238125" cy="2667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71500" y="571500"/>
            <a:ext cx="11601450" cy="54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b="1" sz="3600" i="0" u="none">
                <a:solidFill>
                  <a:srgbClr val="F8FAFC"/>
                </a:solidFill>
                <a:latin typeface="Urbanist"/>
              </a:rPr>
              <a:t>Skills &amp; </a:t>
            </a:r>
            <a:r>
              <a:rPr b="1" sz="3600" i="0" u="none">
                <a:solidFill>
                  <a:srgbClr val="38BDF8"/>
                </a:solidFill>
                <a:latin typeface="Urbanist"/>
              </a:rPr>
              <a:t>Learnings Acquired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900" y="4829919"/>
            <a:ext cx="3124200" cy="5143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5608" y="1513582"/>
            <a:ext cx="38206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6000" i="0" u="none">
                <a:solidFill>
                  <a:srgbClr val="38BDF8"/>
                </a:solidFill>
                <a:latin typeface="Urbanist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713732"/>
            <a:ext cx="7620000" cy="1097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94A3B8"/>
                </a:solidFill>
                <a:latin typeface="Inter"/>
              </a:rPr>
              <a:t>The 6-week internship at Coding Blocks School of Technology was a highly rewarding experience that bridged the gap between theoretical knowledge and practical AI engineering.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57662" y="4382244"/>
            <a:ext cx="3876675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CBD5E1"/>
                </a:solidFill>
                <a:latin typeface="Inter"/>
              </a:rPr>
              <a:t>Feel free to explore my code and projects: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650" y="4972794"/>
            <a:ext cx="219075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" y="1120080"/>
            <a:ext cx="11049000" cy="7847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904851"/>
            <a:ext cx="11049000" cy="9828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2887712"/>
            <a:ext cx="11049000" cy="7847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189532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" y="189532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287818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" y="287818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1500" y="366295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1500" y="366295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69503"/>
            <a:ext cx="857250" cy="476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66875" y="1262955"/>
            <a:ext cx="9953625" cy="198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4A3B8"/>
                </a:solidFill>
                <a:latin typeface="Inter"/>
              </a:rPr>
              <a:t>https://static.vecteezy.com/system/resources/previews/006/591/007/large_2x/abstract-modern-tech-of-programming-code-screen-developer-photo.jpg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6875" y="1508670"/>
            <a:ext cx="9953625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4A3B8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www.vecteezy.com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153394"/>
            <a:ext cx="857250" cy="47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66875" y="2047726"/>
            <a:ext cx="9953625" cy="39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4A3B8"/>
                </a:solidFill>
                <a:latin typeface="Inter"/>
              </a:rPr>
              <a:t>https://img.magnific.com/premium-vector/abstract-digital-network-background-with-glowing-connected-nodes-bright-lines-dark-blue-gradient-illustrating-data-communication-technology-flow-futuristic-connectivity_1241653-2735.jpg?semt=ais_test_b&amp;w=740&amp;q=80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6875" y="2491531"/>
            <a:ext cx="9953625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4A3B8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www.magnific.com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037135"/>
            <a:ext cx="857250" cy="4762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66875" y="3030587"/>
            <a:ext cx="9953625" cy="198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4A3B8"/>
                </a:solidFill>
                <a:latin typeface="Inter"/>
              </a:rPr>
              <a:t>https://framerusercontent.com/images/4n3QSx5blaUA1rI6v1pgAJSnUg.webp?width=2048&amp;height=1143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6875" y="3276302"/>
            <a:ext cx="9953625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4A3B8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research.perplexity.ai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821906"/>
            <a:ext cx="85725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66875" y="3815357"/>
            <a:ext cx="9953625" cy="198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b="0" sz="975" i="0" u="none">
                <a:solidFill>
                  <a:srgbClr val="94A3B8"/>
                </a:solidFill>
                <a:latin typeface="Inter"/>
              </a:rPr>
              <a:t>https://www.mdpi.com/BDCC/BDCC-10-00046/article_deploy/html/images/BDCC-10-00046-g001.png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6875" y="4061073"/>
            <a:ext cx="9953625" cy="24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94A3B8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www.mdpi.com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571500"/>
            <a:ext cx="11601450" cy="54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b="1" sz="3600" i="0" u="none">
                <a:solidFill>
                  <a:srgbClr val="F8FAFC"/>
                </a:solidFill>
                <a:latin typeface="Urbanist"/>
              </a:rPr>
              <a:t>Image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